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Playfair Display" panose="00000500000000000000" pitchFamily="2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A6825E-1360-48F7-918E-A1B6CC8CD256}">
  <a:tblStyle styleId="{FDA6825E-1360-48F7-918E-A1B6CC8CD2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3952c233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3952c233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50db095a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b50db095a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50db095a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b50db095a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50db095a1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b50db095a1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50db095a1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b50db095a1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50db095a1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b50db095a1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3952c233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3952c233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3952c23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3952c23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3952c233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3952c233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3952c233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3952c233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3952c233a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3952c233a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3952c233a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3952c233a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3952c233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3952c233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3952c233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3952c233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3952c233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3952c233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méliorer cette diapositive">
            <a:extLst>
              <a:ext uri="{FF2B5EF4-FFF2-40B4-BE49-F238E27FC236}">
                <a16:creationId xmlns:a16="http://schemas.microsoft.com/office/drawing/2014/main" id="{7C944214-FE1E-461A-6FA2-1BB8FB23A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0"/>
            <a:ext cx="12192000" cy="680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67285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/>
          <p:nvPr/>
        </p:nvSpPr>
        <p:spPr>
          <a:xfrm>
            <a:off x="2438400" y="0"/>
            <a:ext cx="7315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762000" y="571500"/>
            <a:ext cx="11201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5A06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Issue: The Renaissance of the "Machinery Question"</a:t>
            </a:r>
            <a:endParaRPr/>
          </a:p>
        </p:txBody>
      </p:sp>
      <p:sp>
        <p:nvSpPr>
          <p:cNvPr id="168" name="Google Shape;168;p26"/>
          <p:cNvSpPr/>
          <p:nvPr/>
        </p:nvSpPr>
        <p:spPr>
          <a:xfrm>
            <a:off x="762000" y="1933575"/>
            <a:ext cx="10668000" cy="9600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762000" y="2143159"/>
            <a:ext cx="50484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Context: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Headlines are dominated by the fear of a "Useless Class" as AI capabilities expand.</a:t>
            </a:r>
            <a:endParaRPr/>
          </a:p>
        </p:txBody>
      </p:sp>
      <p:pic>
        <p:nvPicPr>
          <p:cNvPr id="170" name="Google Shape;17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601216"/>
            <a:ext cx="5029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/>
        </p:nvSpPr>
        <p:spPr>
          <a:xfrm>
            <a:off x="876300" y="3110059"/>
            <a:ext cx="123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72" name="Google Shape;172;p26"/>
          <p:cNvSpPr txBox="1"/>
          <p:nvPr/>
        </p:nvSpPr>
        <p:spPr>
          <a:xfrm>
            <a:off x="1000125" y="3011132"/>
            <a:ext cx="4810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 New Kind of Automation: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Unlike the Industrial Revolution, AI targets cognitive and creative tasks, not just muscle power.</a:t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876300" y="4320746"/>
            <a:ext cx="123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74" name="Google Shape;174;p26"/>
          <p:cNvSpPr txBox="1"/>
          <p:nvPr/>
        </p:nvSpPr>
        <p:spPr>
          <a:xfrm>
            <a:off x="1000125" y="4232707"/>
            <a:ext cx="4810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The "Horse Equilibrium":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A theoretical anxiety that humans, like horses in the 1900s, may become economically redundant.</a:t>
            </a:r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876300" y="5504396"/>
            <a:ext cx="123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76" name="Google Shape;176;p26"/>
          <p:cNvSpPr txBox="1"/>
          <p:nvPr/>
        </p:nvSpPr>
        <p:spPr>
          <a:xfrm>
            <a:off x="1000125" y="5402837"/>
            <a:ext cx="4810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Global Relevance: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The debate has shifted from "if" to "how fast," creating urgent pressure for economic answers.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0" y="230921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/>
          <p:nvPr/>
        </p:nvSpPr>
        <p:spPr>
          <a:xfrm>
            <a:off x="2438400" y="0"/>
            <a:ext cx="7315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5A06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Context: The French Laboratory</a:t>
            </a:r>
            <a:endParaRPr/>
          </a:p>
        </p:txBody>
      </p:sp>
      <p:sp>
        <p:nvSpPr>
          <p:cNvPr id="185" name="Google Shape;185;p27"/>
          <p:cNvSpPr/>
          <p:nvPr/>
        </p:nvSpPr>
        <p:spPr>
          <a:xfrm>
            <a:off x="762000" y="1323975"/>
            <a:ext cx="10668000" cy="9600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762000" y="1924050"/>
            <a:ext cx="6286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Theoretical Lens: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This essay tests Acemoglu’s "Task-Based" economic model against Harari’s historical theory of the "Bureaucratic Nexus."</a:t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762000" y="3281957"/>
            <a:ext cx="6286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Why France?</a:t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762000" y="5705491"/>
            <a:ext cx="62865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Relevance: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France serves as a critical test case for whether regulation protects workers or accelerates displacement.</a:t>
            </a:r>
            <a:endParaRPr/>
          </a:p>
        </p:txBody>
      </p:sp>
      <p:pic>
        <p:nvPicPr>
          <p:cNvPr id="189" name="Google Shape;18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58100" y="2347317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876300" y="4011319"/>
            <a:ext cx="123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91" name="Google Shape;191;p27"/>
          <p:cNvSpPr txBox="1"/>
          <p:nvPr/>
        </p:nvSpPr>
        <p:spPr>
          <a:xfrm>
            <a:off x="1000125" y="3912393"/>
            <a:ext cx="60483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Rigid Labor Market: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High employment protection and size-contingent regulations (the "Innovation Valley").</a:t>
            </a:r>
            <a:endParaRPr/>
          </a:p>
        </p:txBody>
      </p:sp>
      <p:sp>
        <p:nvSpPr>
          <p:cNvPr id="192" name="Google Shape;192;p27"/>
          <p:cNvSpPr txBox="1"/>
          <p:nvPr/>
        </p:nvSpPr>
        <p:spPr>
          <a:xfrm>
            <a:off x="876300" y="4813631"/>
            <a:ext cx="123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93" name="Google Shape;193;p27"/>
          <p:cNvSpPr txBox="1"/>
          <p:nvPr/>
        </p:nvSpPr>
        <p:spPr>
          <a:xfrm>
            <a:off x="1000125" y="4725590"/>
            <a:ext cx="60483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Unique Data: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Utilizing granular administrative data (Aghion et al., 2025) to move beyond speculation.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352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8"/>
          <p:cNvSpPr txBox="1"/>
          <p:nvPr/>
        </p:nvSpPr>
        <p:spPr>
          <a:xfrm>
            <a:off x="762000" y="7620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5A06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Questions</a:t>
            </a:r>
            <a:endParaRPr/>
          </a:p>
        </p:txBody>
      </p:sp>
      <p:sp>
        <p:nvSpPr>
          <p:cNvPr id="200" name="Google Shape;200;p28"/>
          <p:cNvSpPr/>
          <p:nvPr/>
        </p:nvSpPr>
        <p:spPr>
          <a:xfrm>
            <a:off x="762000" y="1514475"/>
            <a:ext cx="10668000" cy="9600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73524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/>
          <p:nvPr/>
        </p:nvSpPr>
        <p:spPr>
          <a:xfrm>
            <a:off x="762000" y="2114550"/>
            <a:ext cx="106680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Continuity or Rupture?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Is AI simply another Skill-Biased Technological Change, or does it represent a fundamental break in labor demand?</a:t>
            </a:r>
            <a:endParaRPr/>
          </a:p>
        </p:txBody>
      </p:sp>
      <p:sp>
        <p:nvSpPr>
          <p:cNvPr id="203" name="Google Shape;203;p28"/>
          <p:cNvSpPr txBox="1"/>
          <p:nvPr/>
        </p:nvSpPr>
        <p:spPr>
          <a:xfrm>
            <a:off x="762000" y="3137296"/>
            <a:ext cx="106680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The Core Mechanism: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Does the </a:t>
            </a:r>
            <a:r>
              <a:rPr lang="en-US" sz="1650" b="0" i="1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Displacement Effect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(automating tasks) outweigh the </a:t>
            </a:r>
            <a:r>
              <a:rPr lang="en-US" sz="1650" b="0" i="1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Productivity Effect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(scale expansion)?</a:t>
            </a:r>
            <a:endParaRPr/>
          </a:p>
        </p:txBody>
      </p:sp>
      <p:sp>
        <p:nvSpPr>
          <p:cNvPr id="204" name="Google Shape;204;p28"/>
          <p:cNvSpPr txBox="1"/>
          <p:nvPr/>
        </p:nvSpPr>
        <p:spPr>
          <a:xfrm>
            <a:off x="762000" y="4160043"/>
            <a:ext cx="10668000" cy="746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Specific Inquiry: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Is AI specifically dismantling the "Bureaucratic Nexus“: the administrative layer of the workforce?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06386"/>
            <a:ext cx="10668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9"/>
          <p:cNvSpPr/>
          <p:nvPr/>
        </p:nvSpPr>
        <p:spPr>
          <a:xfrm>
            <a:off x="2438400" y="0"/>
            <a:ext cx="7315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5A06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Main Takeaways: Growth &amp; Reinstatement</a:t>
            </a:r>
            <a:endParaRPr/>
          </a:p>
        </p:txBody>
      </p:sp>
      <p:sp>
        <p:nvSpPr>
          <p:cNvPr id="213" name="Google Shape;213;p29"/>
          <p:cNvSpPr/>
          <p:nvPr/>
        </p:nvSpPr>
        <p:spPr>
          <a:xfrm>
            <a:off x="762000" y="1323975"/>
            <a:ext cx="10668000" cy="9600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05000"/>
            <a:ext cx="336545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905000"/>
            <a:ext cx="336545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905000"/>
            <a:ext cx="3365599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/>
          <p:nvPr/>
        </p:nvSpPr>
        <p:spPr>
          <a:xfrm>
            <a:off x="2438400" y="0"/>
            <a:ext cx="7315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5A06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Policy Implications: Managing Transition</a:t>
            </a:r>
            <a:endParaRPr/>
          </a:p>
        </p:txBody>
      </p:sp>
      <p:sp>
        <p:nvSpPr>
          <p:cNvPr id="224" name="Google Shape;224;p30"/>
          <p:cNvSpPr/>
          <p:nvPr/>
        </p:nvSpPr>
        <p:spPr>
          <a:xfrm>
            <a:off x="762000" y="1323975"/>
            <a:ext cx="10668000" cy="9600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1564540" y="2933700"/>
            <a:ext cx="176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Education Pivot</a:t>
            </a:r>
            <a:endParaRPr/>
          </a:p>
        </p:txBody>
      </p:sp>
      <p:sp>
        <p:nvSpPr>
          <p:cNvPr id="226" name="Google Shape;226;p30"/>
          <p:cNvSpPr txBox="1"/>
          <p:nvPr/>
        </p:nvSpPr>
        <p:spPr>
          <a:xfrm>
            <a:off x="1057275" y="3552825"/>
            <a:ext cx="2775000" cy="15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Shift focus from rote tasks to "Complementary Skills"—strategy, empathy, and complex problem-solving—to outpace automation.</a:t>
            </a:r>
            <a:endParaRPr/>
          </a:p>
        </p:txBody>
      </p:sp>
      <p:sp>
        <p:nvSpPr>
          <p:cNvPr id="227" name="Google Shape;227;p30"/>
          <p:cNvSpPr txBox="1"/>
          <p:nvPr/>
        </p:nvSpPr>
        <p:spPr>
          <a:xfrm>
            <a:off x="5025717" y="2933700"/>
            <a:ext cx="214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Competition Policy</a:t>
            </a:r>
            <a:endParaRPr/>
          </a:p>
        </p:txBody>
      </p:sp>
      <p:sp>
        <p:nvSpPr>
          <p:cNvPr id="228" name="Google Shape;228;p30"/>
          <p:cNvSpPr txBox="1"/>
          <p:nvPr/>
        </p:nvSpPr>
        <p:spPr>
          <a:xfrm>
            <a:off x="4708475" y="3552825"/>
            <a:ext cx="27750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Enforce strong antitrust laws to ensure AI efficiency gains translate into output expansion rather than monopoly rents.</a:t>
            </a:r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8777079" y="2933700"/>
            <a:ext cx="194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Smart Regulation</a:t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8359675" y="3552825"/>
            <a:ext cx="27750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Support the EU AI Act’s "High Risk" classification for employment algorithms to manage the social costs of displacement.</a:t>
            </a:r>
            <a:endParaRPr/>
          </a:p>
        </p:txBody>
      </p:sp>
      <p:pic>
        <p:nvPicPr>
          <p:cNvPr id="231" name="Google Shape;231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8900" y="22479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101" y="22479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18600" y="22479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1" descr="Améliorer cette diapositi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2" descr="Améliorer cette diapositi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3" descr="Améliorer cette diapositi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4" descr="Améliorer cette diapositi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5" descr="Améliorer cette diapositi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6" descr="Améliorer cette diapositi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7" descr="Améliorer cette diapositi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8" descr="Améliorer cette diapositi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9" descr="Améliorer cette diapositi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4" name="Google Shape;284;p40"/>
          <p:cNvGraphicFramePr/>
          <p:nvPr/>
        </p:nvGraphicFramePr>
        <p:xfrm>
          <a:off x="1942288" y="2321188"/>
          <a:ext cx="8859875" cy="3282400"/>
        </p:xfrm>
        <a:graphic>
          <a:graphicData uri="http://schemas.openxmlformats.org/drawingml/2006/table">
            <a:tbl>
              <a:tblPr firstRow="1" bandRow="1">
                <a:noFill/>
                <a:tableStyleId>{FDA6825E-1360-48F7-918E-A1B6CC8CD256}</a:tableStyleId>
              </a:tblPr>
              <a:tblGrid>
                <a:gridCol w="273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Aghion et al. (2025)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How Different Uses of AI Shape Labor Demand: Evidence from France.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Acemoglu &amp; Restrepo (2018)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Race Between Man and Machine. AER.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Harari, Y. N. (2024)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Nexus: A Brief History of Information Networks.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Bergeaud (2024)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Labor Market Exposure to AI: Cross-country Differences.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5" name="Google Shape;285;p40"/>
          <p:cNvSpPr/>
          <p:nvPr/>
        </p:nvSpPr>
        <p:spPr>
          <a:xfrm>
            <a:off x="2581275" y="3490912"/>
            <a:ext cx="2171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4752975" y="3490912"/>
            <a:ext cx="4857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0"/>
          <p:cNvSpPr/>
          <p:nvPr/>
        </p:nvSpPr>
        <p:spPr>
          <a:xfrm>
            <a:off x="2581275" y="3957637"/>
            <a:ext cx="2171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0"/>
          <p:cNvSpPr/>
          <p:nvPr/>
        </p:nvSpPr>
        <p:spPr>
          <a:xfrm>
            <a:off x="4752975" y="3957637"/>
            <a:ext cx="4857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0"/>
          <p:cNvSpPr/>
          <p:nvPr/>
        </p:nvSpPr>
        <p:spPr>
          <a:xfrm>
            <a:off x="2581275" y="4424362"/>
            <a:ext cx="2171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0"/>
          <p:cNvSpPr/>
          <p:nvPr/>
        </p:nvSpPr>
        <p:spPr>
          <a:xfrm>
            <a:off x="4752975" y="4424362"/>
            <a:ext cx="4857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0"/>
          <p:cNvSpPr/>
          <p:nvPr/>
        </p:nvSpPr>
        <p:spPr>
          <a:xfrm>
            <a:off x="2581275" y="4891087"/>
            <a:ext cx="2171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0"/>
          <p:cNvSpPr/>
          <p:nvPr/>
        </p:nvSpPr>
        <p:spPr>
          <a:xfrm>
            <a:off x="4752975" y="4891087"/>
            <a:ext cx="4857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Key References</a:t>
            </a:r>
            <a:endParaRPr/>
          </a:p>
        </p:txBody>
      </p:sp>
      <p:sp>
        <p:nvSpPr>
          <p:cNvPr id="294" name="Google Shape;294;p40"/>
          <p:cNvSpPr/>
          <p:nvPr/>
        </p:nvSpPr>
        <p:spPr>
          <a:xfrm>
            <a:off x="571500" y="12668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402</Words>
  <Application>Microsoft Office PowerPoint</Application>
  <PresentationFormat>Grand écran</PresentationFormat>
  <Paragraphs>37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Arial</vt:lpstr>
      <vt:lpstr>Playfair Display</vt:lpstr>
      <vt:lpstr>Lato</vt:lpstr>
      <vt:lpstr>Calibri</vt:lpstr>
      <vt:lpstr>Poppins</vt:lpstr>
      <vt:lpstr>Office Theme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Lucas Simatovic</cp:lastModifiedBy>
  <cp:revision>2</cp:revision>
  <dcterms:modified xsi:type="dcterms:W3CDTF">2026-01-07T15:57:20Z</dcterms:modified>
</cp:coreProperties>
</file>